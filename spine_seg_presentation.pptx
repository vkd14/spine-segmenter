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411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411480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411480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11018520" y="411480"/>
            <a:ext cx="292608" cy="29260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411480"/>
            <a:ext cx="292608" cy="292608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8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PROJECT  ·  IMAGE PROCESSING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Lumbar Vertebral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Body Segmentation</a:t>
            </a:r>
            <a:endParaRPr lang="en-US" sz="460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54864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7033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ML and Image Processing Pipeline</a:t>
            </a:r>
            <a:endParaRPr lang="en-US" sz="18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T1 FLAIR MRI to interactive 3D predictions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480060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8006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nnU-Net v2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50592" y="4800600"/>
            <a:ext cx="2414016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2450592" y="4800600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ResEncUNet Large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480060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48006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Ensemble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79792" y="480060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7479792" y="48006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· NIfTI · Slicer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570464" y="4800600"/>
            <a:ext cx="2414016" cy="310896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/>
        </p:spPr>
      </p:sp>
      <p:sp>
        <p:nvSpPr>
          <p:cNvPr id="22" name="Text 20"/>
          <p:cNvSpPr/>
          <p:nvPr/>
        </p:nvSpPr>
        <p:spPr>
          <a:xfrm>
            <a:off x="10570464" y="4800600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macOS App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DASOJU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May 2026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L1–L5 Vertebral Body Segmentation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12801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500" dirty="0"/>
          </a:p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 and bottleneck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32588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03720" y="12801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Overview</a:t>
            </a:r>
            <a:endParaRPr lang="en-US" sz="1500" dirty="0"/>
          </a:p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at a glance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28600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22402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459 sagittal T1 FLAIR cases, six classes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26480" y="2286000"/>
            <a:ext cx="640080" cy="64008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03720" y="22402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500" dirty="0"/>
          </a:p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nnU-Net + ResEncUNet Large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3246120"/>
            <a:ext cx="640080" cy="64008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3200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cross-validation, 1000 epochs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26480" y="3246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03720" y="3200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&amp; Post-Proc</a:t>
            </a:r>
            <a:endParaRPr lang="en-US" sz="1500" dirty="0"/>
          </a:p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deterministic anatomical rules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4206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41605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Extraction</a:t>
            </a:r>
            <a:endParaRPr lang="en-US" sz="1500" dirty="0"/>
          </a:p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Marching cubes + Taubin smoothing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126480" y="4206240"/>
            <a:ext cx="640080" cy="64008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03720" y="41605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500" dirty="0"/>
          </a:p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native macOS window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0080" y="51663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17320" y="51206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500" dirty="0"/>
          </a:p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MPR overlay, 3D meshes, voxel counts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126480" y="5166360"/>
            <a:ext cx="640080" cy="64008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35" name="Text 33"/>
          <p:cNvSpPr/>
          <p:nvPr/>
        </p:nvSpPr>
        <p:spPr>
          <a:xfrm>
            <a:off x="612648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03720" y="51206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Wrap-up</a:t>
            </a:r>
            <a:endParaRPr lang="en-US" sz="1500" dirty="0"/>
          </a:p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and conclusion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Segment Lumbar Vertebrae?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MOTIVATION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L1–L5 Vertebral Body Segmentation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73152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4173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Spinal stenosis grading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canal area per level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73152" cy="7772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3317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Vertebral height &amp; bone quality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morphometry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73152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2461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Pre-surgical planning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Screw trajectories, anatomical landmarks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73152" cy="7772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1605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densitometry from MRI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Per-vertebra signal-intensity analysis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0" y="141732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1554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0" y="18745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 min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766560" y="26060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case for manual delineation, with high inter-observer variability.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3520440"/>
            <a:ext cx="5120640" cy="2423160"/>
          </a:xfrm>
          <a:prstGeom prst="roundRect">
            <a:avLst>
              <a:gd name="adj" fmla="val 4528"/>
            </a:avLst>
          </a:prstGeom>
          <a:solidFill>
            <a:srgbClr val="EBF4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3657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3977640"/>
            <a:ext cx="4754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Fully-automated, anatomically-valid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L1–L5 segmentation pipeline driven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sagittal T1 FLAIR scan,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interactive desktop app for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and export.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PIPELINE OVERVIEW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L1–L5 Vertebral Body Segmentation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E6EEF5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23774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T1 FLAIR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NIfTI volume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17520" y="1828800"/>
            <a:ext cx="365760" cy="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83280" y="14173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E6EEF5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417320"/>
            <a:ext cx="23774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Preparation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760720" y="1828800"/>
            <a:ext cx="365760" cy="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26480" y="14173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E6EEF5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417320"/>
            <a:ext cx="23774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nnU-Net Inference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(1- or 5-fold)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503920" y="1828800"/>
            <a:ext cx="365760" cy="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869680" y="14173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1E6"/>
          </a:solidFill>
          <a:ln w="15875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1417320"/>
            <a:ext cx="2651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Anatomical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195560" y="2240280"/>
            <a:ext cx="0" cy="45720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03920" y="278892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FFF1E6"/>
          </a:solidFill>
          <a:ln w="15875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2788920"/>
            <a:ext cx="30175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Sagittal-strip corridor (±20% LR)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503920" y="3200400"/>
            <a:ext cx="-365760" cy="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303520" y="278892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FFF1E6"/>
          </a:solidFill>
          <a:ln w="15875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2788920"/>
            <a:ext cx="28346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CC (≥ 50 voxels)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303520" y="3200400"/>
            <a:ext cx="-365760" cy="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828800" y="2788920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FFF1E6"/>
          </a:solidFill>
          <a:ln w="15875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0" y="2788920"/>
            <a:ext cx="31089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SI ordering enforcement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383280" y="3611880"/>
            <a:ext cx="0" cy="45720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40080" y="41605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E6F4EC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160520"/>
            <a:ext cx="2743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NIfTI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(uint8, RAS, original affine)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383280" y="4572000"/>
            <a:ext cx="365760" cy="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749040" y="41605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E6F4EC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4160520"/>
            <a:ext cx="2743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STL meshes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(LPS world coordinates)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92240" y="4572000"/>
            <a:ext cx="365760" cy="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858000" y="41605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E6F4EC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4160520"/>
            <a:ext cx="2651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color table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load-instructions README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509760" y="4572000"/>
            <a:ext cx="365760" cy="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875520" y="41605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E6F4EC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75520" y="4160520"/>
            <a:ext cx="17373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App: 3-pane MPR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Plotly 3D mesh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40080" y="5532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</a:t>
            </a:r>
            <a:pPr indent="0" marL="0">
              <a:buNone/>
            </a:pPr>
            <a:r>
              <a:rPr lang="en-US" sz="13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nnU-Net v2</a:t>
            </a:r>
            <a:pPr indent="0" marL="0">
              <a:buNone/>
            </a:pPr>
            <a:r>
              <a:rPr lang="en-US" sz="13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Residual-Encoder U-Net (ResEncUNet Large) and </a:t>
            </a:r>
            <a:pPr indent="0" marL="0">
              <a:buNone/>
            </a:pPr>
            <a:r>
              <a:rPr lang="en-US" sz="1300" b="1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deterministic anatomical rules</a:t>
            </a:r>
            <a:pPr indent="0" marL="0">
              <a:buNone/>
            </a:pPr>
            <a:r>
              <a:rPr lang="en-US" sz="13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applied directly in voxel space.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Image Characteristics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L1–L5 Vertebral Body Segmentation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260604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380744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173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459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40080" y="221284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training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FLAIR volumes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1325880"/>
            <a:ext cx="260604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380744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4173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242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429000" y="221284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inference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26060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1380744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4173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5+1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217920" y="221284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(L1–L5 + bg)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06840" y="1325880"/>
            <a:ext cx="260604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Shape 19"/>
          <p:cNvSpPr/>
          <p:nvPr/>
        </p:nvSpPr>
        <p:spPr>
          <a:xfrm>
            <a:off x="9006840" y="1380744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06840" y="14173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9006840" y="221284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063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PROPERTIES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38328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Sagittal T1 FLAIR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 × 448 × 422 voxels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spacing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 × 0.63 × 0.66 mm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Normalisation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 (zero-mean)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format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NIfTI .nii.gz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6583680" y="3063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COLOR LEGEND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583680" y="3502152"/>
            <a:ext cx="201168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5"/>
          <p:cNvSpPr/>
          <p:nvPr/>
        </p:nvSpPr>
        <p:spPr>
          <a:xfrm>
            <a:off x="6876288" y="3456432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1 — L1 vertebral body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583680" y="3886200"/>
            <a:ext cx="201168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0" name="Text 27"/>
          <p:cNvSpPr/>
          <p:nvPr/>
        </p:nvSpPr>
        <p:spPr>
          <a:xfrm>
            <a:off x="6876288" y="384048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2 — L2 vertebral body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583680" y="4270248"/>
            <a:ext cx="201168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29"/>
          <p:cNvSpPr/>
          <p:nvPr/>
        </p:nvSpPr>
        <p:spPr>
          <a:xfrm>
            <a:off x="6876288" y="422452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3 — L3 vertebral body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654296"/>
            <a:ext cx="201168" cy="20116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4" name="Text 31"/>
          <p:cNvSpPr/>
          <p:nvPr/>
        </p:nvSpPr>
        <p:spPr>
          <a:xfrm>
            <a:off x="6876288" y="4608576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4 — L4 vertebral body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583680" y="5038344"/>
            <a:ext cx="201168" cy="201168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6" name="Text 33"/>
          <p:cNvSpPr/>
          <p:nvPr/>
        </p:nvSpPr>
        <p:spPr>
          <a:xfrm>
            <a:off x="6876288" y="4992624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5 — L5 vertebral body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Input: Sagittal T1 FLAIR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L1–L5 Vertebral Body Segmentation</a:t>
            </a:r>
            <a:endParaRPr lang="en-US" sz="900" dirty="0"/>
          </a:p>
        </p:txBody>
      </p:sp>
      <p:pic>
        <p:nvPicPr>
          <p:cNvPr id="8" name="Image 0" descr="/Users/v/Documents/l1-l5_app/spine_seg_app/presentation/figures/mri_onl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11247120" cy="4206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Mid-sagittal · mid-coronal · mid-axial slices of an unseen test volume.  Bright cancellous bone and dark cortical rim are characteristic of T1 FLAIR.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nnU-Net + Residual-Encoder U-Net (Large)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MODEL ARCHITECTURE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L1–L5 Vertebral Body Segmentation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nnU-Net?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Self-configures patch size, spacing, batch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 on medical 3D segmentation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manual hyper-parameter tuning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ResEncUNet (vs vanilla U-Net)?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blocks in the encoder path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gradient flow in deeper stages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6 residual blocks per stage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fine bone edges + large-scale spinal context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1280160"/>
            <a:ext cx="530352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HYPER-PARAMETERS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874520"/>
          <a:ext cx="49377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017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ResidualEncoderUNet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3D (3 × 3 × 3)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 / 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32, 64, 128, 256, 320, 320, 320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blocks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1, 3, 4, 6, 6, 6, 6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Decoder convs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per stage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Normalisation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InstanceNorm 3D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Leaky ReLU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 × 320 × 256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TRAINING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L1–L5 Vertebral Body Segmentation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280160"/>
            <a:ext cx="530352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280160"/>
            <a:ext cx="73152" cy="4663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874520"/>
            <a:ext cx="49377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with Nesterov momentum (μ = 0.99)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learning-rate decay, η₀ = 10⁻²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Dice + Cross-Entropy loss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epochs, best-Dice checkpoint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nnU-Net default augmentations: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rotation, scale, mirror, gamma, elastic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280160"/>
            <a:ext cx="73152" cy="2194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187452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independent models, one per fold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Per-fold checkpoint: checkpoint_best.pth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average softmax then argmax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variance, smoother boundaries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65760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657600"/>
            <a:ext cx="73152" cy="22860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794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MODES IN THIS APP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416052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1-fold </a:t>
            </a:r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 preview, default on Mac)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12 minutes per case on M1 Max with MPS.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ensemble </a:t>
            </a:r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(best quality)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~50–60 min per case on the same hardware.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Sliding-Window Ensemble Inference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INFERENCE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L1–L5 Vertebral Body Segmentation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280160"/>
            <a:ext cx="10972800" cy="2194560"/>
          </a:xfrm>
          <a:prstGeom prst="roundRect">
            <a:avLst>
              <a:gd name="adj" fmla="val 3333"/>
            </a:avLst>
          </a:prstGeom>
          <a:solidFill>
            <a:srgbClr val="0E1B2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nnUNetv2_predict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17830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-i &lt;input_dir&gt;    -o &lt;output_dir&gt;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100            -c 3d_fullres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-tr nnUNetTrainer -p nnUNetResEncUNetLPlans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-f 0 1 2 3 4      -chk checkpoint_best.pth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-step_size 0.5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3593592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758184"/>
            <a:ext cx="3593592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86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38912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overlap (step_size 0.5) for smooth boundaries between patches.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16552" y="3703320"/>
            <a:ext cx="359359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4416552" y="3758184"/>
            <a:ext cx="3593592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3886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softmax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99432" y="438912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fold yields a 6-class softmax volume. Averaged voxel-wise.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93024" y="3703320"/>
            <a:ext cx="3593592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0" name="Shape 18"/>
          <p:cNvSpPr/>
          <p:nvPr/>
        </p:nvSpPr>
        <p:spPr>
          <a:xfrm>
            <a:off x="8193024" y="3758184"/>
            <a:ext cx="3593592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75904" y="3886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 → labels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75904" y="438912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hard label from arg-max over the averaged probabilities.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Post-Process? Failure Modes of Raw Output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POST-PROCESSING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L1–L5 Vertebral Body Segmentation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sees patches, not the whole spine. Three systematic failure modes appear in raw predictions: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359359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1031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artefacts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6974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Contralateral blobs that look spine-like in patch context but lie outside the vertebral column.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16552" y="1920240"/>
            <a:ext cx="359359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45152" y="210312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464515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93792" y="21031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fragments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45152" y="26974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Partial-volume noise on bone edges or low-contrast regions creates small islands.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93024" y="1920240"/>
            <a:ext cx="359359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21624" y="2103120"/>
            <a:ext cx="457200" cy="45720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1" name="Text 19"/>
          <p:cNvSpPr/>
          <p:nvPr/>
        </p:nvSpPr>
        <p:spPr>
          <a:xfrm>
            <a:off x="842162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970264" y="21031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violations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21624" y="26974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vertebrae like L2 and L3 get swapped on ambiguous boundaries.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57200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EBF4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7091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50292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deterministic, anatomically-informed rules applied in voxel space directly to the predicted label volume — no learned parameters, no thresholds to tune.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 — Anatomical Post-Processing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POST-PROCESSING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L1–L5 Vertebral Body Segmentation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280160"/>
            <a:ext cx="3520440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280160"/>
            <a:ext cx="352044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417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1874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Sagittal-strip corridor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[c_LR − 0.20·N_LR ,  c_LR + 0.20·N_LR]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280160"/>
            <a:ext cx="3520440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280160"/>
            <a:ext cx="35204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417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480560" y="1874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connected component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80560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26-conn., per label, ≥ 50 voxels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55280" y="1280160"/>
            <a:ext cx="3520440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EA580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1280160"/>
            <a:ext cx="352044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1417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138160" y="1874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SI ordering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38160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monotonic L1 → L5 SI centroids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017520"/>
            <a:ext cx="10972800" cy="2926080"/>
          </a:xfrm>
          <a:prstGeom prst="roundRect">
            <a:avLst>
              <a:gd name="adj" fmla="val 2500"/>
            </a:avLst>
          </a:prstGeom>
          <a:solidFill>
            <a:srgbClr val="0E1B2C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108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" y="352044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Identify axes:  LR = argmin·span(S&gt;0,a)  ;  SI = argmax·span(S&gt;0,a)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 — sagittal strip:  S′[ |LR − c_LR| &gt; 0.20·N_LR ] ← 0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 — largest CC:  for ℓ ∈ {1,…,5}: keep arg max_C |C_ℓ|, drop if &lt; 50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 — SI ordering:  drop labels whose SI centroid breaks monotonicity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S′  (cleaned segmentation)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 in Action (mid-sagittal slice)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POST-PROCESSING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L1–L5 Vertebral Body Segmentation</a:t>
            </a:r>
            <a:endParaRPr lang="en-US" sz="900" dirty="0"/>
          </a:p>
        </p:txBody>
      </p:sp>
      <p:pic>
        <p:nvPicPr>
          <p:cNvPr id="8" name="Image 0" descr="/Users/v/Documents/l1-l5_app/spine_seg_app/presentation/figures/postprocess_step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11247120" cy="3840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5285232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5212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Step 1: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contralateral mirror blobs eliminated by the corridor constraint.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5577840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55046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→ Step 2: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islands (&lt;50 voxels) discarded; one component retained per vertebra.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5870448"/>
            <a:ext cx="146304" cy="146304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57972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→ Step 3: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enforcement removes any centroid breaking L1→L5 monotonicity.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4: Voxel → Surface (Marching Cubes + Taubin)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MESH EXTRACTION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L1–L5 Vertebral Body Segmentation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3716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mask  M_ℓ = ( S = ℓ )  per retained label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08483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0116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1-voxel zero pad (no boundary holes)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72491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6517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Marching cubes at iso-level 0.5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36499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2918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Voxel → NIfTI affine (RAS) → negate X,Y for LPS world coords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00507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9319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Taubin smoothing (10 iterations) — volume-preserving low-pass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64515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45720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STL (binary, 80-byte header)</a:t>
            </a:r>
            <a:endParaRPr lang="en-US" sz="1300" dirty="0"/>
          </a:p>
        </p:txBody>
      </p:sp>
      <p:pic>
        <p:nvPicPr>
          <p:cNvPr id="26" name="Image 0" descr="/Users/v/Documents/l1-l5_app/spine_seg_app/presentation/figures/mesh_3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1371600"/>
            <a:ext cx="5120640" cy="45720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583680" y="5989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smoothed surface meshes,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LPS world coordinates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Taubin Smoothing in One Slide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MESH EXTRACTION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L1–L5 Vertebral Body Segmentation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28016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EF2F2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 ONLY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8288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smooths but shrinks the mesh — vertebrae get progressively smaller with every pass.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ECFDF5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TAUBIN (λ, μ)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8288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alternating filters with positive λ and negative μ — smooths without volume loss.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10972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383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8680" y="3703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v_(t+1)  =  ( I + μ · L ) ( I + λ · L )  ·  v_t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68680" y="4297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is the discrete Laplacian on mesh vertices. Choose 0 &lt; λ and μ ≈ −λ/(1 + λ·k_PB) for a band-pass-like response.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937760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EBF4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029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8680" y="5349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marching-cubes staircase artefacts at the bone–background boundary  without  shrinking the vertebral body.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Desktop Application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APPLICATION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L1–L5 Vertebral Body Segmentation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359359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691640"/>
            <a:ext cx="73152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6916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0756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UI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16552" y="1691640"/>
            <a:ext cx="359359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16552" y="1691640"/>
            <a:ext cx="73152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645152" y="16916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pywebview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45152" y="20756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macOS WKWebView wrapper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93024" y="1691640"/>
            <a:ext cx="359359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93024" y="1691640"/>
            <a:ext cx="73152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8421624" y="16916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21624" y="20756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3-pane MPR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2606040"/>
            <a:ext cx="359359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2606040"/>
            <a:ext cx="73152" cy="7772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26060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Mesh3d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29900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3D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16552" y="2606040"/>
            <a:ext cx="359359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16552" y="2606040"/>
            <a:ext cx="73152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7" name="Text 25"/>
          <p:cNvSpPr/>
          <p:nvPr/>
        </p:nvSpPr>
        <p:spPr>
          <a:xfrm>
            <a:off x="4645152" y="26060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45152" y="29900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marching cubes + Taubin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93024" y="2606040"/>
            <a:ext cx="359359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93024" y="2606040"/>
            <a:ext cx="73152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421624" y="26060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nnU-Net v2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21624" y="29900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predictor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3703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MODES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406908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window (Finder)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68680" y="46177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 launch_spine_seg_app.command  —  no browser, real Dock entry, traffic-light buttons.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0" y="406908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EA58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446520" y="46177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cli.py &lt;input.nii.gz&gt; -m nnUNet_results -o results/   —  scripts and batch jobs.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548640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" y="5486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SUPPORT 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.nii / .nii.gz  or  a folder of cases · per-file upload limit </a:t>
            </a:r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MB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outputs saved to  ./results/&lt;case_id&gt;/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APPLICATION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L1–L5 Vertebral Body Segmentation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E6EEF5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325880"/>
            <a:ext cx="27432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native window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(WKWebView)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0760" y="2103120"/>
            <a:ext cx="0" cy="36576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09160" y="246888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E6EEF5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468880"/>
            <a:ext cx="27432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server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(localhost:rand)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0760" y="3246120"/>
            <a:ext cx="0" cy="36576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709160" y="361188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FF1E6"/>
          </a:solidFill>
          <a:ln w="15875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611880"/>
            <a:ext cx="27432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spine_seg.pipeline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run_pipeline()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3995928"/>
            <a:ext cx="-548640" cy="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417320" y="361188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E6EEF5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3611880"/>
            <a:ext cx="27432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nnUNetPredictor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 or 5-fold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52360" y="3995928"/>
            <a:ext cx="548640" cy="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01000" y="361188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FF1E6"/>
          </a:solidFill>
          <a:ln w="15875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3611880"/>
            <a:ext cx="27432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80760" y="4389120"/>
            <a:ext cx="0" cy="36576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709160" y="475488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E6F4EC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4754880"/>
            <a:ext cx="27432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NIfTI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 STL meshes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452360" y="5138928"/>
            <a:ext cx="548640" cy="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001000" y="475488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E6F4EC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01000" y="4754880"/>
            <a:ext cx="27432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MPR + 3D mesh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same window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Python process; pywebview embeds a WKWebView pointed at the local Streamlit URL. Closing the window terminates the entire process group cleanly.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Multi-Planar View with Segmentation Overlay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RESULTS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L1–L5 Vertebral Body Segmentation</a:t>
            </a:r>
            <a:endParaRPr lang="en-US" sz="900" dirty="0"/>
          </a:p>
        </p:txBody>
      </p:sp>
      <p:pic>
        <p:nvPicPr>
          <p:cNvPr id="8" name="Image 0" descr="/Users/v/Documents/l1-l5_app/spine_seg_app/presentation/figures/mpr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11247120" cy="4206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577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in the app re-render these panels live. Bilinear interpolation on the MRI keeps the through-plane axis readable; nearest-neighbour on the labels keeps boundaries crisp.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3D Surface Reconstruction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RESULTS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L1–L5 Vertebral Body Segmentation</a:t>
            </a:r>
            <a:endParaRPr lang="en-US" sz="900" dirty="0"/>
          </a:p>
        </p:txBody>
      </p:sp>
      <p:pic>
        <p:nvPicPr>
          <p:cNvPr id="8" name="Image 0" descr="/Users/v/Documents/l1-l5_app/spine_seg_app/presentation/figures/mesh_3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5943600" cy="5029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766560" y="1417320"/>
            <a:ext cx="4937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0" y="1417320"/>
            <a:ext cx="73152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8"/>
          <p:cNvSpPr/>
          <p:nvPr/>
        </p:nvSpPr>
        <p:spPr>
          <a:xfrm>
            <a:off x="699516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interactive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995160" y="1965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to rotate · scroll to zoom · click legend to toggle individual vertebrae.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66560" y="2971800"/>
            <a:ext cx="4937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2971800"/>
            <a:ext cx="73152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6995160" y="3108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World-coordinate exact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995160" y="35204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STL carries the original NIfTI affine transformed to LPS — opens correctly in 3D Slicer.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66560" y="4526280"/>
            <a:ext cx="4937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66560" y="4526280"/>
            <a:ext cx="73152" cy="13716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Text 16"/>
          <p:cNvSpPr/>
          <p:nvPr/>
        </p:nvSpPr>
        <p:spPr>
          <a:xfrm>
            <a:off x="6995160" y="4663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Surgeon-grade smoothness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995160" y="5074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Marching cubes + Taubin removes voxel-staircase without shrinking the bone.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— Per-Vertebra Voxel Counts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RESULTS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L1–L5 Vertebral Body Segmentation</a:t>
            </a:r>
            <a:endParaRPr lang="en-US" sz="900" dirty="0"/>
          </a:p>
        </p:txBody>
      </p:sp>
      <p:pic>
        <p:nvPicPr>
          <p:cNvPr id="8" name="Image 0" descr="/Users/v/Documents/l1-l5_app/spine_seg_app/presentation/figures/voxel_cou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280160"/>
            <a:ext cx="7589520" cy="4297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869680" y="1280160"/>
            <a:ext cx="2926080" cy="42976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869680" y="1280160"/>
            <a:ext cx="29260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9006840" y="1417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006840" y="1783080"/>
            <a:ext cx="2697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lumbar bodies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on this single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case.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decrease toward L5,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smaller anatomical extent of the lower lumbar bodies in this subject.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segmentation, single test case (case 542 · sagittal T1 FLAIR).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Limitations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WRAP-UP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L1–L5 Vertebral Body Segmentation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· M1 MAX (MPS)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54864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4688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/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1-fold (default)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5-fold ensemble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~50–60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1-fold CPU fallback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~25–35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Post-processing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Mesh extraction (5 STLs)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~3–4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40080" y="42062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RTX 5090 from the published pipeline: ~15 s (1 fold), ~60 s (5-fold). MPS on M1 Max is ≈ 50× slower — acceptable for a single-user desktop app.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0" y="1627632"/>
            <a:ext cx="54864" cy="9601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3" name="Text 10"/>
          <p:cNvSpPr/>
          <p:nvPr/>
        </p:nvSpPr>
        <p:spPr>
          <a:xfrm>
            <a:off x="6565392" y="16276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T1-FLAIR-only model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565392" y="199339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/ STIR will produce poor segmentations until re-trained.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0" y="2706624"/>
            <a:ext cx="54864" cy="9601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6" name="Text 13"/>
          <p:cNvSpPr/>
          <p:nvPr/>
        </p:nvSpPr>
        <p:spPr>
          <a:xfrm>
            <a:off x="6565392" y="270662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Standard-anatomy assumption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565392" y="307238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Transitional vertebrae (lumbarised S1, sacralised L5) may legitimately lose a label.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400800" y="3785616"/>
            <a:ext cx="54864" cy="9601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Text 16"/>
          <p:cNvSpPr/>
          <p:nvPr/>
        </p:nvSpPr>
        <p:spPr>
          <a:xfrm>
            <a:off x="6565392" y="37856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Apple-Silicon latency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565392" y="4151376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ensemble too slow for true real-time; CUDA collapses it to seconds.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400800" y="4864608"/>
            <a:ext cx="54864" cy="9601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2" name="Text 19"/>
          <p:cNvSpPr/>
          <p:nvPr/>
        </p:nvSpPr>
        <p:spPr>
          <a:xfrm>
            <a:off x="6565392" y="48646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Voxel-space rules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565392" y="523036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LR/SI axes inferred from labeled bbox — works but ignores the affine orientation.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40080" y="5303520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EBF4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8680" y="5303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line.  </a:t>
            </a:r>
            <a:pPr indent="0" marL="0">
              <a:buNone/>
            </a:pPr>
            <a:r>
              <a:rPr lang="en-US" sz="13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deterministic image-processing rules eliminate the dominant failure modes of a purely data-driven model — and the whole pipeline runs from a single click on Apple Silicon.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9784080" y="411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" name="Shape 3"/>
          <p:cNvSpPr/>
          <p:nvPr/>
        </p:nvSpPr>
        <p:spPr>
          <a:xfrm>
            <a:off x="10195560" y="411480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411480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18520" y="411480"/>
            <a:ext cx="292608" cy="29260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0" y="411480"/>
            <a:ext cx="292608" cy="292608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8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NIfTI VOLUME 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clinical-grade segmentation,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one click.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4864" cy="1508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069080"/>
            <a:ext cx="10698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2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T1 FLAIR  →  nnU-Net inference  →  3-step post-processing  →  NIfTI + STL  →  interactive desktop app.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i="1" dirty="0">
                <a:solidFill>
                  <a:srgbClr val="B0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deterministic rules (sagittal corridor, largest CC, SI ordering) eliminate the dominant failure modes of a purely data-driven model.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B0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Marching cubes + Taubin produce surface meshes that register correctly with the source MRI in 3D Slicer (LPS).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852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Dasoju  ·  Image Processing  ·  Term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Image Processing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Lumbar L1-L5 Vertebral Body Segmentation</dc:title>
  <dc:subject>Term Project — Image Processing</dc:subject>
  <dc:creator>Varun Dasoju</dc:creator>
  <cp:lastModifiedBy>Varun Dasoju</cp:lastModifiedBy>
  <cp:revision>1</cp:revision>
  <dcterms:created xsi:type="dcterms:W3CDTF">2026-05-06T03:49:33Z</dcterms:created>
  <dcterms:modified xsi:type="dcterms:W3CDTF">2026-05-06T03:49:33Z</dcterms:modified>
</cp:coreProperties>
</file>